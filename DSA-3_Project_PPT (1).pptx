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8212" y="830424"/>
            <a:ext cx="9447726" cy="1595535"/>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altLang="en-US" sz="4000" b="1" dirty="0">
                <a:solidFill>
                  <a:srgbClr val="C00000"/>
                </a:solidFill>
                <a:latin typeface="+mn-lt"/>
              </a:rPr>
              <a:t>Symptom-to-Diagnosis Matcher</a:t>
            </a:r>
          </a:p>
        </p:txBody>
      </p:sp>
      <p:sp>
        <p:nvSpPr>
          <p:cNvPr id="3" name="Subtitle 2"/>
          <p:cNvSpPr>
            <a:spLocks noGrp="1"/>
          </p:cNvSpPr>
          <p:nvPr>
            <p:ph type="subTitle" idx="1"/>
          </p:nvPr>
        </p:nvSpPr>
        <p:spPr>
          <a:xfrm>
            <a:off x="4077478" y="2920481"/>
            <a:ext cx="6839337" cy="1231641"/>
          </a:xfrm>
        </p:spPr>
        <p:txBody>
          <a:bodyPr/>
          <a:lstStyle/>
          <a:p>
            <a:r>
              <a:rPr lang="en-US" dirty="0">
                <a:solidFill>
                  <a:srgbClr val="0070C0"/>
                </a:solidFill>
              </a:rPr>
              <a:t>Team Members</a:t>
            </a:r>
          </a:p>
          <a:p>
            <a:r>
              <a:rPr lang="en-IN" altLang="en-US" dirty="0">
                <a:solidFill>
                  <a:srgbClr val="0070C0"/>
                </a:solidFill>
              </a:rPr>
              <a:t>PAVAN KUMAR 2520090200</a:t>
            </a:r>
            <a:endParaRPr lang="en-US" dirty="0">
              <a:solidFill>
                <a:srgbClr val="0070C0"/>
              </a:solidFill>
            </a:endParaRPr>
          </a:p>
          <a:p>
            <a:r>
              <a:rPr lang="en-IN" altLang="en-US" dirty="0">
                <a:solidFill>
                  <a:srgbClr val="0070C0"/>
                </a:solidFill>
              </a:rPr>
              <a:t>RISHI 2520090131</a:t>
            </a:r>
            <a:endParaRPr lang="en-US" dirty="0">
              <a:solidFill>
                <a:srgbClr val="0070C0"/>
              </a:solidFill>
            </a:endParaRPr>
          </a:p>
          <a:p>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pPr lvl="0" algn="l" eaLnBrk="0" fontAlgn="base" hangingPunct="0">
              <a:lnSpc>
                <a:spcPct val="100000"/>
              </a:lnSpc>
              <a:spcBef>
                <a:spcPct val="0"/>
              </a:spcBef>
              <a:spcAft>
                <a:spcPct val="0"/>
              </a:spcAft>
            </a:pPr>
            <a:r>
              <a:rPr lang="en-US" altLang="en-US" sz="1800" dirty="0">
                <a:latin typeface="Arial" panose="020B0604020202020204" pitchFamily="34" charset="0"/>
                <a:ea typeface="Times New Roman" panose="02020603050405020304" pitchFamily="18" charset="0"/>
              </a:rPr>
              <a:t>                                          Mrs. Ch</a:t>
            </a:r>
            <a:r>
              <a:rPr lang="en-IN" altLang="en-US" sz="1800" dirty="0">
                <a:latin typeface="Arial" panose="020B0604020202020204" pitchFamily="34" charset="0"/>
                <a:ea typeface="Times New Roman" panose="02020603050405020304" pitchFamily="18" charset="0"/>
              </a:rPr>
              <a:t>andusha kanda</a:t>
            </a:r>
            <a:endParaRPr lang="en-US" altLang="en-US" sz="1000" dirty="0">
              <a:latin typeface="Arial" panose="020B0604020202020204" pitchFamily="34" charset="0"/>
            </a:endParaRPr>
          </a:p>
          <a:p>
            <a:pPr lvl="0" algn="l" eaLnBrk="0" fontAlgn="base" hangingPunct="0">
              <a:lnSpc>
                <a:spcPct val="100000"/>
              </a:lnSpc>
              <a:spcBef>
                <a:spcPct val="0"/>
              </a:spcBef>
              <a:spcAft>
                <a:spcPct val="0"/>
              </a:spcAft>
            </a:pPr>
            <a:r>
              <a:rPr lang="en-US" altLang="en-US" sz="1800" dirty="0">
                <a:latin typeface="Arial" panose="020B0604020202020204" pitchFamily="34" charset="0"/>
                <a:ea typeface="Times New Roman" panose="02020603050405020304" pitchFamily="18" charset="0"/>
              </a:rPr>
              <a:t>                                         Asst. Professor, C</a:t>
            </a:r>
            <a:endParaRPr lang="en-US" altLang="en-US" sz="1000" dirty="0">
              <a:latin typeface="Arial" panose="020B0604020202020204" pitchFamily="34" charset="0"/>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just">
              <a:spcAft>
                <a:spcPts val="0"/>
              </a:spcAft>
              <a:buNone/>
            </a:pPr>
            <a:r>
              <a:rPr lang="en-US" altLang="en-US" sz="2000" dirty="0"/>
              <a:t>The Symptom-to-Diagnosis Matcher is a decision-support engine designed to process free-text patient symptoms and identify the most likely conditions using a structured medical knowledge base.</a:t>
            </a:r>
          </a:p>
          <a:p>
            <a:pPr marL="0" indent="0" algn="just">
              <a:spcAft>
                <a:spcPts val="0"/>
              </a:spcAft>
              <a:buNone/>
            </a:pPr>
            <a:endParaRPr lang="en-US" altLang="en-US" sz="2000" dirty="0"/>
          </a:p>
          <a:p>
            <a:pPr marL="0" indent="0" algn="just">
              <a:spcAft>
                <a:spcPts val="0"/>
              </a:spcAft>
              <a:buNone/>
            </a:pPr>
            <a:r>
              <a:rPr lang="en-US" altLang="en-US" sz="2000" dirty="0"/>
              <a:t>The system first normalizes symptom descriptions so that different expressions of the same symptom can be interpreted consistently. It then compares the normalized symptoms with known symptom patterns and assigns transparent scores to candidate diagnoses.</a:t>
            </a:r>
          </a:p>
          <a:p>
            <a:pPr marL="0" indent="0" algn="just">
              <a:spcAft>
                <a:spcPts val="0"/>
              </a:spcAft>
              <a:buNone/>
            </a:pPr>
            <a:endParaRPr lang="en-US" altLang="en-US" sz="2000" dirty="0"/>
          </a:p>
          <a:p>
            <a:pPr marL="0" indent="0" algn="just">
              <a:spcAft>
                <a:spcPts val="0"/>
              </a:spcAft>
              <a:buNone/>
            </a:pPr>
            <a:r>
              <a:rPr lang="en-US" altLang="en-US" sz="2000" dirty="0"/>
              <a:t>The system ranks possible conditions and analyzes differences between competing diagnoses. It also recommends a minimal set of discriminating medical tests that can help distinguish between candidates.</a:t>
            </a:r>
          </a:p>
          <a:p>
            <a:pPr marL="0" indent="0" algn="just">
              <a:spcAft>
                <a:spcPts val="0"/>
              </a:spcAft>
              <a:buNone/>
            </a:pPr>
            <a:endParaRPr lang="en-US" altLang="en-US" sz="2000" dirty="0"/>
          </a:p>
          <a:p>
            <a:pPr marL="0" indent="0" algn="just">
              <a:spcAft>
                <a:spcPts val="0"/>
              </a:spcAft>
              <a:buNone/>
            </a:pPr>
            <a:r>
              <a:rPr lang="en-US" altLang="en-US" sz="2000" dirty="0"/>
              <a:t>The project focuses on clear scoring, traceable reasoning, and efficient knowledge-base usage. It is intended for educational and decision-support purposes and not as a replacement for professional medical diagnosis.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 name="Content Body"/>
          <p:cNvSpPr txBox="1"/>
          <p:nvPr/>
        </p:nvSpPr>
        <p:spPr>
          <a:xfrm>
            <a:off x="685800" y="1000125"/>
            <a:ext cx="10820400" cy="5600000"/>
          </a:xfrm>
          <a:prstGeom prst="rect">
            <a:avLst/>
          </a:prstGeom>
          <a:noFill/>
        </p:spPr>
        <p:txBody>
          <a:bodyPr wrap="square" anchor="t">
            <a:normAutofit fontScale="90000" lnSpcReduction="10000"/>
          </a:bodyPr>
          <a:lstStyle/>
          <a:p>
            <a:pPr marL="0" indent="0" algn="just">
              <a:spcAft>
                <a:spcPts val="300"/>
              </a:spcAft>
              <a:buNone/>
            </a:pPr>
            <a:r>
              <a:rPr lang="en-US" altLang="en-US" sz="1700" dirty="0"/>
              <a:t>Medical symptoms can be described in many different ways.</a:t>
            </a:r>
          </a:p>
          <a:p>
            <a:pPr marL="0" indent="0" algn="just">
              <a:spcAft>
                <a:spcPts val="300"/>
              </a:spcAft>
              <a:buNone/>
            </a:pPr>
            <a:endParaRPr lang="en-US" altLang="en-US" sz="1700" dirty="0"/>
          </a:p>
          <a:p>
            <a:pPr marL="0" indent="0" algn="just">
              <a:spcAft>
                <a:spcPts val="300"/>
              </a:spcAft>
              <a:buNone/>
            </a:pPr>
            <a:r>
              <a:rPr lang="en-US" altLang="en-US" sz="1700" dirty="0"/>
              <a:t>For example:</a:t>
            </a:r>
          </a:p>
          <a:p>
            <a:pPr marL="0" indent="0" algn="just">
              <a:spcAft>
                <a:spcPts val="300"/>
              </a:spcAft>
              <a:buNone/>
            </a:pPr>
            <a:endParaRPr lang="en-US" altLang="en-US" sz="1700" dirty="0"/>
          </a:p>
          <a:p>
            <a:pPr marL="0" indent="0" algn="just">
              <a:spcAft>
                <a:spcPts val="300"/>
              </a:spcAft>
              <a:buNone/>
            </a:pPr>
            <a:r>
              <a:rPr lang="en-US" altLang="en-US" sz="1700" dirty="0"/>
              <a:t>"High temperature"</a:t>
            </a:r>
          </a:p>
          <a:p>
            <a:pPr marL="0" indent="0" algn="just">
              <a:spcAft>
                <a:spcPts val="300"/>
              </a:spcAft>
              <a:buNone/>
            </a:pPr>
            <a:r>
              <a:rPr lang="en-US" altLang="en-US" sz="1700" dirty="0"/>
              <a:t>"Fever"</a:t>
            </a:r>
          </a:p>
          <a:p>
            <a:pPr marL="0" indent="0" algn="just">
              <a:spcAft>
                <a:spcPts val="300"/>
              </a:spcAft>
              <a:buNone/>
            </a:pPr>
            <a:r>
              <a:rPr lang="en-US" altLang="en-US" sz="1700" dirty="0"/>
              <a:t>"Elevated body temperature"</a:t>
            </a:r>
          </a:p>
          <a:p>
            <a:pPr marL="0" indent="0" algn="just">
              <a:spcAft>
                <a:spcPts val="300"/>
              </a:spcAft>
              <a:buNone/>
            </a:pPr>
            <a:endParaRPr lang="en-US" altLang="en-US" sz="1700" dirty="0"/>
          </a:p>
          <a:p>
            <a:pPr marL="0" indent="0" algn="just">
              <a:spcAft>
                <a:spcPts val="300"/>
              </a:spcAft>
              <a:buNone/>
            </a:pPr>
            <a:r>
              <a:rPr lang="en-US" altLang="en-US" sz="1700" dirty="0"/>
              <a:t>These expressions may represent the same symptom.</a:t>
            </a:r>
          </a:p>
          <a:p>
            <a:pPr marL="0" indent="0" algn="just">
              <a:spcAft>
                <a:spcPts val="300"/>
              </a:spcAft>
              <a:buNone/>
            </a:pPr>
            <a:endParaRPr lang="en-US" altLang="en-US" sz="1700" dirty="0"/>
          </a:p>
          <a:p>
            <a:pPr marL="0" indent="0" algn="just">
              <a:spcAft>
                <a:spcPts val="300"/>
              </a:spcAft>
              <a:buNone/>
            </a:pPr>
            <a:r>
              <a:rPr lang="en-US" altLang="en-US" sz="1700" dirty="0"/>
              <a:t>The Symptom-to-Diagnosis Matcher automates the process of interpreting symptoms and matching them with possible conditions.</a:t>
            </a:r>
          </a:p>
          <a:p>
            <a:pPr marL="0" indent="0" algn="just">
              <a:spcAft>
                <a:spcPts val="300"/>
              </a:spcAft>
              <a:buNone/>
            </a:pPr>
            <a:endParaRPr lang="en-US" altLang="en-US" sz="1700" dirty="0"/>
          </a:p>
          <a:p>
            <a:pPr marL="0" indent="0" algn="just">
              <a:spcAft>
                <a:spcPts val="300"/>
              </a:spcAft>
              <a:buNone/>
            </a:pPr>
            <a:r>
              <a:rPr lang="en-US" altLang="en-US" sz="1700" dirty="0"/>
              <a:t>The system:</a:t>
            </a:r>
          </a:p>
          <a:p>
            <a:pPr marL="0" indent="0" algn="just">
              <a:spcAft>
                <a:spcPts val="300"/>
              </a:spcAft>
              <a:buNone/>
            </a:pPr>
            <a:endParaRPr lang="en-US" altLang="en-US" sz="1700" dirty="0"/>
          </a:p>
          <a:p>
            <a:pPr marL="0" indent="0" algn="just">
              <a:spcAft>
                <a:spcPts val="300"/>
              </a:spcAft>
              <a:buNone/>
            </a:pPr>
            <a:r>
              <a:rPr lang="en-US" altLang="en-US" sz="1700" dirty="0"/>
              <a:t>Accepts free-text symptoms.</a:t>
            </a:r>
          </a:p>
          <a:p>
            <a:pPr marL="0" indent="0" algn="just">
              <a:spcAft>
                <a:spcPts val="300"/>
              </a:spcAft>
              <a:buNone/>
            </a:pPr>
            <a:r>
              <a:rPr lang="en-US" altLang="en-US" sz="1700" dirty="0"/>
              <a:t>Normalizes symptom descriptions.</a:t>
            </a:r>
          </a:p>
          <a:p>
            <a:pPr marL="0" indent="0" algn="just">
              <a:spcAft>
                <a:spcPts val="300"/>
              </a:spcAft>
              <a:buNone/>
            </a:pPr>
            <a:r>
              <a:rPr lang="en-US" altLang="en-US" sz="1700" dirty="0"/>
              <a:t>Matches symptoms with a structured knowledge base.</a:t>
            </a:r>
          </a:p>
          <a:p>
            <a:pPr marL="0" indent="0" algn="just">
              <a:spcAft>
                <a:spcPts val="300"/>
              </a:spcAft>
              <a:buNone/>
            </a:pPr>
            <a:r>
              <a:rPr lang="en-US" altLang="en-US" sz="1700" dirty="0"/>
              <a:t>Calculates scores for candidate diagnoses.</a:t>
            </a:r>
          </a:p>
          <a:p>
            <a:pPr marL="0" indent="0" algn="just">
              <a:spcAft>
                <a:spcPts val="300"/>
              </a:spcAft>
              <a:buNone/>
            </a:pPr>
            <a:r>
              <a:rPr lang="en-US" altLang="en-US" sz="1700" dirty="0"/>
              <a:t>Ranks possible conditions.</a:t>
            </a:r>
          </a:p>
          <a:p>
            <a:pPr marL="0" indent="0" algn="just">
              <a:spcAft>
                <a:spcPts val="300"/>
              </a:spcAft>
              <a:buNone/>
            </a:pPr>
            <a:r>
              <a:rPr lang="en-US" altLang="en-US" sz="1700" dirty="0"/>
              <a:t>Compares competing diagnoses.</a:t>
            </a:r>
          </a:p>
          <a:p>
            <a:pPr marL="0" indent="0" algn="just">
              <a:spcAft>
                <a:spcPts val="300"/>
              </a:spcAft>
              <a:buNone/>
            </a:pPr>
            <a:r>
              <a:rPr lang="en-US" altLang="en-US" sz="1700" dirty="0"/>
              <a:t>Suggests discriminating medical tests.</a:t>
            </a:r>
          </a:p>
          <a:p>
            <a:pPr marL="0" indent="0" algn="just">
              <a:spcAft>
                <a:spcPts val="300"/>
              </a:spcAft>
              <a:buNone/>
            </a:pPr>
            <a:r>
              <a:rPr lang="en-US" altLang="en-US" sz="1700" dirty="0"/>
              <a:t>Provides an understandable and traceable result.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 name="Content Body"/>
          <p:cNvSpPr txBox="1"/>
          <p:nvPr/>
        </p:nvSpPr>
        <p:spPr>
          <a:xfrm>
            <a:off x="685800" y="1000125"/>
            <a:ext cx="10820400" cy="5600000"/>
          </a:xfrm>
          <a:prstGeom prst="rect">
            <a:avLst/>
          </a:prstGeom>
          <a:noFill/>
        </p:spPr>
        <p:txBody>
          <a:bodyPr wrap="square" anchor="t">
            <a:normAutofit lnSpcReduction="10000"/>
          </a:bodyPr>
          <a:lstStyle/>
          <a:p>
            <a:pPr marL="285750" indent="-285750">
              <a:spcAft>
                <a:spcPts val="350"/>
              </a:spcAft>
              <a:buFont typeface="Arial" panose="020B0604020202020204"/>
              <a:buChar char="•"/>
            </a:pPr>
            <a:r>
              <a:rPr lang="en-US" altLang="en-US" sz="1700" dirty="0"/>
              <a:t>Rule-Based Matching:</a:t>
            </a:r>
          </a:p>
          <a:p>
            <a:pPr marL="285750" indent="-285750">
              <a:spcAft>
                <a:spcPts val="350"/>
              </a:spcAft>
              <a:buFont typeface="Arial" panose="020B0604020202020204"/>
              <a:buChar char="•"/>
            </a:pPr>
            <a:r>
              <a:rPr lang="en-US" altLang="en-US" sz="1700" dirty="0"/>
              <a:t>Uses predefined relationships between symptoms and conditions. It is simple and easy to understand but depends on the quality of the rules.</a:t>
            </a:r>
          </a:p>
          <a:p>
            <a:pPr marL="285750" indent="-285750">
              <a:spcAft>
                <a:spcPts val="350"/>
              </a:spcAft>
              <a:buFont typeface="Arial" panose="020B0604020202020204"/>
              <a:buChar char="•"/>
            </a:pPr>
            <a:endParaRPr lang="en-US" altLang="en-US" sz="1700" dirty="0"/>
          </a:p>
          <a:p>
            <a:pPr marL="285750" indent="-285750">
              <a:spcAft>
                <a:spcPts val="350"/>
              </a:spcAft>
              <a:buFont typeface="Arial" panose="020B0604020202020204"/>
              <a:buChar char="•"/>
            </a:pPr>
            <a:r>
              <a:rPr lang="en-US" altLang="en-US" sz="1700" dirty="0"/>
              <a:t>Text-Based Matching:</a:t>
            </a:r>
          </a:p>
          <a:p>
            <a:pPr marL="285750" indent="-285750">
              <a:spcAft>
                <a:spcPts val="350"/>
              </a:spcAft>
              <a:buFont typeface="Arial" panose="020B0604020202020204"/>
              <a:buChar char="•"/>
            </a:pPr>
            <a:r>
              <a:rPr lang="en-US" altLang="en-US" sz="1700" dirty="0"/>
              <a:t>Compares input symptom descriptions with stored symptom descriptions. It may struggle with different wording.</a:t>
            </a:r>
          </a:p>
          <a:p>
            <a:pPr marL="285750" indent="-285750">
              <a:spcAft>
                <a:spcPts val="350"/>
              </a:spcAft>
              <a:buFont typeface="Arial" panose="020B0604020202020204"/>
              <a:buChar char="•"/>
            </a:pPr>
            <a:endParaRPr lang="en-US" altLang="en-US" sz="1700" dirty="0"/>
          </a:p>
          <a:p>
            <a:pPr marL="285750" indent="-285750">
              <a:spcAft>
                <a:spcPts val="350"/>
              </a:spcAft>
              <a:buFont typeface="Arial" panose="020B0604020202020204"/>
              <a:buChar char="•"/>
            </a:pPr>
            <a:r>
              <a:rPr lang="en-US" altLang="en-US" sz="1700" dirty="0"/>
              <a:t>Knowledge-Based Systems:</a:t>
            </a:r>
          </a:p>
          <a:p>
            <a:pPr marL="285750" indent="-285750">
              <a:spcAft>
                <a:spcPts val="350"/>
              </a:spcAft>
              <a:buFont typeface="Arial" panose="020B0604020202020204"/>
              <a:buChar char="•"/>
            </a:pPr>
            <a:r>
              <a:rPr lang="en-US" altLang="en-US" sz="1700" dirty="0"/>
              <a:t>Store structured relationships between symptoms, diseases, and medical information for systematic matching.</a:t>
            </a:r>
          </a:p>
          <a:p>
            <a:pPr marL="285750" indent="-285750">
              <a:spcAft>
                <a:spcPts val="350"/>
              </a:spcAft>
              <a:buFont typeface="Arial" panose="020B0604020202020204"/>
              <a:buChar char="•"/>
            </a:pPr>
            <a:endParaRPr lang="en-US" altLang="en-US" sz="1700" dirty="0"/>
          </a:p>
          <a:p>
            <a:pPr marL="285750" indent="-285750">
              <a:spcAft>
                <a:spcPts val="350"/>
              </a:spcAft>
              <a:buFont typeface="Arial" panose="020B0604020202020204"/>
              <a:buChar char="•"/>
            </a:pPr>
            <a:r>
              <a:rPr lang="en-US" altLang="en-US" sz="1700" dirty="0"/>
              <a:t>Scoring and Ranking:</a:t>
            </a:r>
          </a:p>
          <a:p>
            <a:pPr marL="285750" indent="-285750">
              <a:spcAft>
                <a:spcPts val="350"/>
              </a:spcAft>
              <a:buFont typeface="Arial" panose="020B0604020202020204"/>
              <a:buChar char="•"/>
            </a:pPr>
            <a:r>
              <a:rPr lang="en-US" altLang="en-US" sz="1700" dirty="0"/>
              <a:t>Assigns scores to possible diagnoses based on the number or importance of matching symptoms.</a:t>
            </a:r>
          </a:p>
          <a:p>
            <a:pPr marL="285750" indent="-285750">
              <a:spcAft>
                <a:spcPts val="350"/>
              </a:spcAft>
              <a:buFont typeface="Arial" panose="020B0604020202020204"/>
              <a:buChar char="•"/>
            </a:pPr>
            <a:endParaRPr lang="en-US" altLang="en-US" sz="1700" dirty="0"/>
          </a:p>
          <a:p>
            <a:pPr marL="285750" indent="-285750">
              <a:spcAft>
                <a:spcPts val="350"/>
              </a:spcAft>
              <a:buFont typeface="Arial" panose="020B0604020202020204"/>
              <a:buChar char="•"/>
            </a:pPr>
            <a:r>
              <a:rPr lang="en-US" altLang="en-US" sz="1700" dirty="0"/>
              <a:t>Data Structures:</a:t>
            </a:r>
          </a:p>
          <a:p>
            <a:pPr marL="285750" indent="-285750">
              <a:spcAft>
                <a:spcPts val="350"/>
              </a:spcAft>
              <a:buFont typeface="Arial" panose="020B0604020202020204"/>
              <a:buChar char="•"/>
            </a:pPr>
            <a:r>
              <a:rPr lang="en-US" altLang="en-US" sz="1700" dirty="0"/>
              <a:t>Efficient data structures can improve searching and retrieval from a large symptom-diagnosis knowledge base.</a:t>
            </a:r>
          </a:p>
          <a:p>
            <a:pPr marL="285750" indent="-285750">
              <a:spcAft>
                <a:spcPts val="350"/>
              </a:spcAft>
              <a:buFont typeface="Arial" panose="020B0604020202020204"/>
              <a:buChar char="•"/>
            </a:pPr>
            <a:endParaRPr lang="en-US" altLang="en-US" sz="1700" dirty="0"/>
          </a:p>
          <a:p>
            <a:pPr marL="285750" indent="-285750">
              <a:spcAft>
                <a:spcPts val="350"/>
              </a:spcAft>
              <a:buFont typeface="Arial" panose="020B0604020202020204"/>
              <a:buChar char="•"/>
            </a:pPr>
            <a:r>
              <a:rPr lang="en-US" altLang="en-US" sz="1700" dirty="0"/>
              <a:t>Research Gap:</a:t>
            </a:r>
          </a:p>
          <a:p>
            <a:pPr marL="285750" indent="-285750">
              <a:spcAft>
                <a:spcPts val="350"/>
              </a:spcAft>
              <a:buFont typeface="Arial" panose="020B0604020202020204"/>
              <a:buChar char="•"/>
            </a:pPr>
            <a:r>
              <a:rPr lang="en-US" altLang="en-US" sz="1700" dirty="0"/>
              <a:t>Many advanced medical decision-support systems can be complex. This project focuses on a simpler, transparent approach that demonstrates the practical application of DSA concepts.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 name="Left Col"/>
          <p:cNvSpPr txBox="1"/>
          <p:nvPr/>
        </p:nvSpPr>
        <p:spPr>
          <a:xfrm>
            <a:off x="801370" y="877570"/>
            <a:ext cx="5257800" cy="5600000"/>
          </a:xfrm>
          <a:prstGeom prst="rect">
            <a:avLst/>
          </a:prstGeom>
          <a:noFill/>
        </p:spPr>
        <p:txBody>
          <a:bodyPr wrap="square" anchor="t">
            <a:normAutofit/>
          </a:bodyPr>
          <a:lstStyle/>
          <a:p>
            <a:pPr marL="0" indent="0" algn="l">
              <a:spcAft>
                <a:spcPts val="400"/>
              </a:spcAft>
              <a:buNone/>
            </a:pPr>
            <a:r>
              <a:rPr lang="en-US" sz="1900" b="1" dirty="0"/>
              <a:t>Problem Statement</a:t>
            </a:r>
          </a:p>
          <a:p>
            <a:pPr marL="285750" indent="-285750" algn="l">
              <a:spcAft>
                <a:spcPts val="250"/>
              </a:spcAft>
              <a:buFont typeface="Arial" panose="020B0604020202020204"/>
              <a:buChar char="•"/>
            </a:pPr>
            <a:r>
              <a:rPr lang="en-US" altLang="en-US" sz="1900" b="1" dirty="0"/>
              <a:t>Patients may describe the same symptom using different words.</a:t>
            </a:r>
          </a:p>
          <a:p>
            <a:pPr marL="285750" indent="-285750" algn="l">
              <a:spcAft>
                <a:spcPts val="250"/>
              </a:spcAft>
              <a:buFont typeface="Arial" panose="020B0604020202020204"/>
              <a:buChar char="•"/>
            </a:pPr>
            <a:r>
              <a:rPr lang="en-US" altLang="en-US" sz="1900" b="1" dirty="0"/>
              <a:t>Manual interpretation of multiple symptoms can be difficult.</a:t>
            </a:r>
          </a:p>
          <a:p>
            <a:pPr marL="285750" indent="-285750" algn="l">
              <a:spcAft>
                <a:spcPts val="250"/>
              </a:spcAft>
              <a:buFont typeface="Arial" panose="020B0604020202020204"/>
              <a:buChar char="•"/>
            </a:pPr>
            <a:r>
              <a:rPr lang="en-US" altLang="en-US" sz="1900" b="1" dirty="0"/>
              <a:t>Several conditions may share similar symptoms.</a:t>
            </a:r>
          </a:p>
          <a:p>
            <a:pPr marL="285750" indent="-285750" algn="l">
              <a:spcAft>
                <a:spcPts val="250"/>
              </a:spcAft>
              <a:buFont typeface="Arial" panose="020B0604020202020204"/>
              <a:buChar char="•"/>
            </a:pPr>
            <a:r>
              <a:rPr lang="en-US" altLang="en-US" sz="1900" b="1" dirty="0"/>
              <a:t>Simple text matching may fail when wording differs.</a:t>
            </a:r>
          </a:p>
          <a:p>
            <a:pPr marL="285750" indent="-285750" algn="l">
              <a:spcAft>
                <a:spcPts val="250"/>
              </a:spcAft>
              <a:buFont typeface="Arial" panose="020B0604020202020204"/>
              <a:buChar char="•"/>
            </a:pPr>
            <a:r>
              <a:rPr lang="en-US" altLang="en-US" sz="1900" b="1" dirty="0"/>
              <a:t>A system is required to rank possible conditions transparently.</a:t>
            </a:r>
          </a:p>
          <a:p>
            <a:pPr marL="285750" indent="-285750" algn="l">
              <a:spcAft>
                <a:spcPts val="250"/>
              </a:spcAft>
              <a:buFont typeface="Arial" panose="020B0604020202020204"/>
              <a:buChar char="•"/>
            </a:pPr>
            <a:r>
              <a:rPr lang="en-US" altLang="en-US" sz="1900" b="1" dirty="0"/>
              <a:t>The system should help distinguish between competing conditions.</a:t>
            </a:r>
          </a:p>
        </p:txBody>
      </p:sp>
      <p:sp>
        <p:nvSpPr>
          <p:cNvPr id="11" name="Right Col"/>
          <p:cNvSpPr txBox="1"/>
          <p:nvPr/>
        </p:nvSpPr>
        <p:spPr>
          <a:xfrm>
            <a:off x="6248400" y="1000125"/>
            <a:ext cx="5257800" cy="5600000"/>
          </a:xfrm>
          <a:prstGeom prst="rect">
            <a:avLst/>
          </a:prstGeom>
          <a:noFill/>
        </p:spPr>
        <p:txBody>
          <a:bodyPr wrap="square" anchor="t">
            <a:normAutofit/>
          </a:bodyPr>
          <a:lstStyle/>
          <a:p>
            <a:pPr marL="0" indent="0" algn="l">
              <a:spcAft>
                <a:spcPts val="400"/>
              </a:spcAft>
              <a:buNone/>
            </a:pPr>
            <a:r>
              <a:rPr lang="en-US" sz="1900" b="1" dirty="0"/>
              <a:t>Objectives</a:t>
            </a:r>
          </a:p>
          <a:p>
            <a:pPr marL="285750" indent="-285750" algn="l">
              <a:spcAft>
                <a:spcPts val="200"/>
              </a:spcAft>
              <a:buFont typeface="Arial" panose="020B0604020202020204"/>
              <a:buChar char="•"/>
            </a:pPr>
            <a:r>
              <a:rPr lang="en-US" altLang="en-US" sz="1900" b="1" dirty="0"/>
              <a:t>Process free-text symptom descriptions.</a:t>
            </a:r>
          </a:p>
          <a:p>
            <a:pPr marL="285750" indent="-285750" algn="l">
              <a:spcAft>
                <a:spcPts val="200"/>
              </a:spcAft>
              <a:buFont typeface="Arial" panose="020B0604020202020204"/>
              <a:buChar char="•"/>
            </a:pPr>
            <a:r>
              <a:rPr lang="en-US" altLang="en-US" sz="1900" b="1" dirty="0"/>
              <a:t>Normalize different symptom expressions.</a:t>
            </a:r>
          </a:p>
          <a:p>
            <a:pPr marL="285750" indent="-285750" algn="l">
              <a:spcAft>
                <a:spcPts val="200"/>
              </a:spcAft>
              <a:buFont typeface="Arial" panose="020B0604020202020204"/>
              <a:buChar char="•"/>
            </a:pPr>
            <a:r>
              <a:rPr lang="en-US" altLang="en-US" sz="1900" b="1" dirty="0"/>
              <a:t>Match symptoms with a structured knowledge base.</a:t>
            </a:r>
          </a:p>
          <a:p>
            <a:pPr marL="285750" indent="-285750" algn="l">
              <a:spcAft>
                <a:spcPts val="200"/>
              </a:spcAft>
              <a:buFont typeface="Arial" panose="020B0604020202020204"/>
              <a:buChar char="•"/>
            </a:pPr>
            <a:r>
              <a:rPr lang="en-US" altLang="en-US" sz="1900" b="1" dirty="0"/>
              <a:t>Calculate transparent diagnosis scores.</a:t>
            </a:r>
          </a:p>
          <a:p>
            <a:pPr marL="285750" indent="-285750" algn="l">
              <a:spcAft>
                <a:spcPts val="200"/>
              </a:spcAft>
              <a:buFont typeface="Arial" panose="020B0604020202020204"/>
              <a:buChar char="•"/>
            </a:pPr>
            <a:r>
              <a:rPr lang="en-US" altLang="en-US" sz="1900" b="1" dirty="0"/>
              <a:t>Rank candidate conditions.</a:t>
            </a:r>
          </a:p>
          <a:p>
            <a:pPr marL="285750" indent="-285750" algn="l">
              <a:spcAft>
                <a:spcPts val="200"/>
              </a:spcAft>
              <a:buFont typeface="Arial" panose="020B0604020202020204"/>
              <a:buChar char="•"/>
            </a:pPr>
            <a:r>
              <a:rPr lang="en-US" altLang="en-US" sz="1900" b="1" dirty="0"/>
              <a:t>Compare competing diagnoses.</a:t>
            </a:r>
          </a:p>
          <a:p>
            <a:pPr marL="285750" indent="-285750" algn="l">
              <a:spcAft>
                <a:spcPts val="200"/>
              </a:spcAft>
              <a:buFont typeface="Arial" panose="020B0604020202020204"/>
              <a:buChar char="•"/>
            </a:pPr>
            <a:r>
              <a:rPr lang="en-US" altLang="en-US" sz="1900" b="1" dirty="0"/>
              <a:t>Recommend discriminating medical tests.</a:t>
            </a:r>
          </a:p>
          <a:p>
            <a:pPr marL="285750" indent="-285750" algn="l">
              <a:spcAft>
                <a:spcPts val="200"/>
              </a:spcAft>
              <a:buFont typeface="Arial" panose="020B0604020202020204"/>
              <a:buChar char="•"/>
            </a:pPr>
            <a:r>
              <a:rPr lang="en-US" altLang="en-US" sz="1900" b="1" dirty="0"/>
              <a:t>Provide clear and traceable results.</a:t>
            </a:r>
          </a:p>
          <a:p>
            <a:pPr marL="285750" indent="-285750" algn="l">
              <a:spcAft>
                <a:spcPts val="200"/>
              </a:spcAft>
              <a:buFont typeface="Arial" panose="020B0604020202020204"/>
              <a:buChar char="•"/>
            </a:pPr>
            <a:r>
              <a:rPr lang="en-US" altLang="en-US" sz="1900" b="1" dirty="0"/>
              <a:t>Demonstrate practical use of DSA concepts.</a:t>
            </a:r>
            <a:r>
              <a:rPr lang="en-US" sz="14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Flow Chart Body"/>
          <p:cNvSpPr txBox="1"/>
          <p:nvPr/>
        </p:nvSpPr>
        <p:spPr>
          <a:xfrm>
            <a:off x="3000000" y="700000"/>
            <a:ext cx="6192000" cy="6100000"/>
          </a:xfrm>
          <a:prstGeom prst="rect">
            <a:avLst/>
          </a:prstGeom>
          <a:noFill/>
        </p:spPr>
        <p:txBody>
          <a:bodyPr wrap="square" anchor="t">
            <a:normAutofit/>
          </a:bodyPr>
          <a:lstStyle/>
          <a:p>
            <a:pPr marL="0" indent="0" algn="ctr">
              <a:spcAft>
                <a:spcPts val="100"/>
              </a:spcAft>
              <a:buNone/>
            </a:pPr>
            <a:r>
              <a:rPr lang="en-US" altLang="en-US" sz="1500" dirty="0"/>
              <a:t>User Enters Symptoms</a:t>
            </a:r>
          </a:p>
          <a:p>
            <a:pPr marL="0" indent="0" algn="ctr">
              <a:spcAft>
                <a:spcPts val="100"/>
              </a:spcAft>
              <a:buNone/>
            </a:pPr>
            <a:r>
              <a:rPr lang="en-US" altLang="en-US" sz="1500" dirty="0"/>
              <a:t>↓</a:t>
            </a:r>
          </a:p>
          <a:p>
            <a:pPr marL="0" indent="0" algn="ctr">
              <a:spcAft>
                <a:spcPts val="100"/>
              </a:spcAft>
              <a:buNone/>
            </a:pPr>
            <a:r>
              <a:rPr lang="en-US" altLang="en-US" sz="1500" dirty="0"/>
              <a:t>Read Free-Text Input</a:t>
            </a:r>
          </a:p>
          <a:p>
            <a:pPr marL="0" indent="0" algn="ctr">
              <a:spcAft>
                <a:spcPts val="100"/>
              </a:spcAft>
              <a:buNone/>
            </a:pPr>
            <a:r>
              <a:rPr lang="en-US" altLang="en-US" sz="1500" dirty="0"/>
              <a:t>↓</a:t>
            </a:r>
          </a:p>
          <a:p>
            <a:pPr marL="0" indent="0" algn="ctr">
              <a:spcAft>
                <a:spcPts val="100"/>
              </a:spcAft>
              <a:buNone/>
            </a:pPr>
            <a:r>
              <a:rPr lang="en-US" altLang="en-US" sz="1500" dirty="0"/>
              <a:t>Normalize Symptoms</a:t>
            </a:r>
          </a:p>
          <a:p>
            <a:pPr marL="0" indent="0" algn="ctr">
              <a:spcAft>
                <a:spcPts val="100"/>
              </a:spcAft>
              <a:buNone/>
            </a:pPr>
            <a:r>
              <a:rPr lang="en-US" altLang="en-US" sz="1500" dirty="0"/>
              <a:t>↓</a:t>
            </a:r>
          </a:p>
          <a:p>
            <a:pPr marL="0" indent="0" algn="ctr">
              <a:spcAft>
                <a:spcPts val="100"/>
              </a:spcAft>
              <a:buNone/>
            </a:pPr>
            <a:r>
              <a:rPr lang="en-US" altLang="en-US" sz="1500" dirty="0"/>
              <a:t>Create Structured Symptom Set</a:t>
            </a:r>
          </a:p>
          <a:p>
            <a:pPr marL="0" indent="0" algn="ctr">
              <a:spcAft>
                <a:spcPts val="100"/>
              </a:spcAft>
              <a:buNone/>
            </a:pPr>
            <a:r>
              <a:rPr lang="en-US" altLang="en-US" sz="1500" dirty="0"/>
              <a:t>↓</a:t>
            </a:r>
          </a:p>
          <a:p>
            <a:pPr marL="0" indent="0" algn="ctr">
              <a:spcAft>
                <a:spcPts val="100"/>
              </a:spcAft>
              <a:buNone/>
            </a:pPr>
            <a:r>
              <a:rPr lang="en-US" altLang="en-US" sz="1500" dirty="0"/>
              <a:t>Search Knowledge Base</a:t>
            </a:r>
          </a:p>
          <a:p>
            <a:pPr marL="0" indent="0" algn="ctr">
              <a:spcAft>
                <a:spcPts val="100"/>
              </a:spcAft>
              <a:buNone/>
            </a:pPr>
            <a:r>
              <a:rPr lang="en-US" altLang="en-US" sz="1500" dirty="0"/>
              <a:t>↓</a:t>
            </a:r>
          </a:p>
          <a:p>
            <a:pPr marL="0" indent="0" algn="ctr">
              <a:spcAft>
                <a:spcPts val="100"/>
              </a:spcAft>
              <a:buNone/>
            </a:pPr>
            <a:r>
              <a:rPr lang="en-US" altLang="en-US" sz="1500" dirty="0"/>
              <a:t>Match Symptom Patterns</a:t>
            </a:r>
          </a:p>
          <a:p>
            <a:pPr marL="0" indent="0" algn="ctr">
              <a:spcAft>
                <a:spcPts val="100"/>
              </a:spcAft>
              <a:buNone/>
            </a:pPr>
            <a:r>
              <a:rPr lang="en-US" altLang="en-US" sz="1500" dirty="0"/>
              <a:t>↓</a:t>
            </a:r>
          </a:p>
          <a:p>
            <a:pPr marL="0" indent="0" algn="ctr">
              <a:spcAft>
                <a:spcPts val="100"/>
              </a:spcAft>
              <a:buNone/>
            </a:pPr>
            <a:r>
              <a:rPr lang="en-US" altLang="en-US" sz="1500" dirty="0"/>
              <a:t>Calculate Diagnosis Scores</a:t>
            </a:r>
          </a:p>
          <a:p>
            <a:pPr marL="0" indent="0" algn="ctr">
              <a:spcAft>
                <a:spcPts val="100"/>
              </a:spcAft>
              <a:buNone/>
            </a:pPr>
            <a:r>
              <a:rPr lang="en-US" altLang="en-US" sz="1500" dirty="0"/>
              <a:t>↓</a:t>
            </a:r>
          </a:p>
          <a:p>
            <a:pPr marL="0" indent="0" algn="ctr">
              <a:spcAft>
                <a:spcPts val="100"/>
              </a:spcAft>
              <a:buNone/>
            </a:pPr>
            <a:r>
              <a:rPr lang="en-US" altLang="en-US" sz="1500" dirty="0"/>
              <a:t>Rank Candidate Diagnoses</a:t>
            </a:r>
          </a:p>
          <a:p>
            <a:pPr marL="0" indent="0" algn="ctr">
              <a:spcAft>
                <a:spcPts val="100"/>
              </a:spcAft>
              <a:buNone/>
            </a:pPr>
            <a:r>
              <a:rPr lang="en-US" altLang="en-US" sz="1500" dirty="0"/>
              <a:t>↓</a:t>
            </a:r>
          </a:p>
          <a:p>
            <a:pPr marL="0" indent="0" algn="ctr">
              <a:spcAft>
                <a:spcPts val="100"/>
              </a:spcAft>
              <a:buNone/>
            </a:pPr>
            <a:r>
              <a:rPr lang="en-US" altLang="en-US" sz="1500" dirty="0"/>
              <a:t>Compare Top Candidates</a:t>
            </a:r>
          </a:p>
          <a:p>
            <a:pPr marL="0" indent="0" algn="ctr">
              <a:spcAft>
                <a:spcPts val="100"/>
              </a:spcAft>
              <a:buNone/>
            </a:pPr>
            <a:r>
              <a:rPr lang="en-US" altLang="en-US" sz="1500" dirty="0"/>
              <a:t>↓</a:t>
            </a:r>
          </a:p>
          <a:p>
            <a:pPr marL="0" indent="0" algn="ctr">
              <a:spcAft>
                <a:spcPts val="100"/>
              </a:spcAft>
              <a:buNone/>
            </a:pPr>
            <a:r>
              <a:rPr lang="en-US" altLang="en-US" sz="1500" dirty="0"/>
              <a:t>Recommend Discriminating Tests</a:t>
            </a:r>
          </a:p>
          <a:p>
            <a:pPr marL="0" indent="0" algn="ctr">
              <a:spcAft>
                <a:spcPts val="100"/>
              </a:spcAft>
              <a:buNone/>
            </a:pPr>
            <a:r>
              <a:rPr lang="en-US" altLang="en-US" sz="1500" dirty="0"/>
              <a:t>↓</a:t>
            </a:r>
          </a:p>
          <a:p>
            <a:pPr marL="0" indent="0" algn="ctr">
              <a:spcAft>
                <a:spcPts val="100"/>
              </a:spcAft>
              <a:buNone/>
            </a:pPr>
            <a:r>
              <a:rPr lang="en-US" altLang="en-US" sz="1500" dirty="0"/>
              <a:t>Display Explainable Results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 name="Results Intro"/>
          <p:cNvSpPr txBox="1"/>
          <p:nvPr/>
        </p:nvSpPr>
        <p:spPr>
          <a:xfrm>
            <a:off x="685800" y="1000125"/>
            <a:ext cx="10820400" cy="4271645"/>
          </a:xfrm>
          <a:prstGeom prst="rect">
            <a:avLst/>
          </a:prstGeom>
          <a:noFill/>
        </p:spPr>
        <p:txBody>
          <a:bodyPr wrap="square" anchor="t">
            <a:normAutofit/>
          </a:bodyPr>
          <a:lstStyle/>
          <a:p>
            <a:pPr marL="0" indent="0" algn="just">
              <a:spcAft>
                <a:spcPts val="500"/>
              </a:spcAft>
              <a:buNone/>
            </a:pPr>
            <a:r>
              <a:rPr lang="en-US" altLang="en-US" sz="1700" dirty="0"/>
              <a:t>The developed Symptom-to-Diagnosis Matcher processes symptom descriptions and matches them with possible conditions.</a:t>
            </a:r>
          </a:p>
          <a:p>
            <a:pPr marL="0" indent="0" algn="just">
              <a:spcAft>
                <a:spcPts val="500"/>
              </a:spcAft>
              <a:buNone/>
            </a:pPr>
            <a:endParaRPr lang="en-US" altLang="en-US" sz="1700" dirty="0"/>
          </a:p>
          <a:p>
            <a:pPr marL="0" indent="0" algn="just">
              <a:spcAft>
                <a:spcPts val="500"/>
              </a:spcAft>
              <a:buNone/>
            </a:pPr>
            <a:r>
              <a:rPr lang="en-US" altLang="en-US" sz="1700" dirty="0"/>
              <a:t>The system:</a:t>
            </a:r>
          </a:p>
          <a:p>
            <a:pPr marL="0" indent="0" algn="just">
              <a:spcAft>
                <a:spcPts val="500"/>
              </a:spcAft>
              <a:buNone/>
            </a:pPr>
            <a:endParaRPr lang="en-US" altLang="en-US" sz="1700" dirty="0"/>
          </a:p>
          <a:p>
            <a:pPr marL="0" indent="0" algn="just">
              <a:spcAft>
                <a:spcPts val="500"/>
              </a:spcAft>
              <a:buNone/>
            </a:pPr>
            <a:r>
              <a:rPr lang="en-US" altLang="en-US" sz="1700" dirty="0"/>
              <a:t>Successfully normalizes different symptom expressions.</a:t>
            </a:r>
          </a:p>
          <a:p>
            <a:pPr marL="0" indent="0" algn="just">
              <a:spcAft>
                <a:spcPts val="500"/>
              </a:spcAft>
              <a:buNone/>
            </a:pPr>
            <a:r>
              <a:rPr lang="en-US" altLang="en-US" sz="1700" dirty="0"/>
              <a:t>Matches normalized symptoms with the knowledge base.</a:t>
            </a:r>
          </a:p>
          <a:p>
            <a:pPr marL="0" indent="0" algn="just">
              <a:spcAft>
                <a:spcPts val="500"/>
              </a:spcAft>
              <a:buNone/>
            </a:pPr>
            <a:r>
              <a:rPr lang="en-US" altLang="en-US" sz="1700" dirty="0"/>
              <a:t>Calculates transparent scores for candidate conditions.</a:t>
            </a:r>
          </a:p>
          <a:p>
            <a:pPr marL="0" indent="0" algn="just">
              <a:spcAft>
                <a:spcPts val="500"/>
              </a:spcAft>
              <a:buNone/>
            </a:pPr>
            <a:r>
              <a:rPr lang="en-US" altLang="en-US" sz="1700" dirty="0"/>
              <a:t>Ranks possible diagnoses based on matching.</a:t>
            </a:r>
          </a:p>
          <a:p>
            <a:pPr marL="0" indent="0" algn="just">
              <a:spcAft>
                <a:spcPts val="500"/>
              </a:spcAft>
              <a:buNone/>
            </a:pPr>
            <a:r>
              <a:rPr lang="en-US" altLang="en-US" sz="1700" dirty="0"/>
              <a:t>Compares competing diagnosis candidates.</a:t>
            </a:r>
          </a:p>
          <a:p>
            <a:pPr marL="0" indent="0" algn="just">
              <a:spcAft>
                <a:spcPts val="500"/>
              </a:spcAft>
              <a:buNone/>
            </a:pPr>
            <a:r>
              <a:rPr lang="en-US" altLang="en-US" sz="1700" dirty="0"/>
              <a:t>Identifies useful discriminating tests.</a:t>
            </a:r>
          </a:p>
          <a:p>
            <a:pPr marL="0" indent="0" algn="just">
              <a:spcAft>
                <a:spcPts val="500"/>
              </a:spcAft>
              <a:buNone/>
            </a:pPr>
            <a:r>
              <a:rPr lang="en-US" altLang="en-US" sz="1700" dirty="0"/>
              <a:t>Produces understandable and traceable results.</a:t>
            </a:r>
          </a:p>
        </p:txBody>
      </p:sp>
      <p:sp>
        <p:nvSpPr>
          <p:cNvPr id="11" name="Results Left"/>
          <p:cNvSpPr txBox="1"/>
          <p:nvPr/>
        </p:nvSpPr>
        <p:spPr>
          <a:xfrm>
            <a:off x="1225550" y="2747155"/>
            <a:ext cx="5257800" cy="3000000"/>
          </a:xfrm>
          <a:prstGeom prst="rect">
            <a:avLst/>
          </a:prstGeom>
          <a:noFill/>
        </p:spPr>
        <p:txBody>
          <a:bodyPr wrap="square" anchor="t">
            <a:normAutofit/>
          </a:bodyPr>
          <a:lstStyle/>
          <a:p>
            <a:pPr marL="285750" indent="-285750">
              <a:spcAft>
                <a:spcPts val="350"/>
              </a:spcAft>
              <a:buFont typeface="Arial" panose="020B0604020202020204"/>
              <a:buChar char="•"/>
            </a:pPr>
            <a:endParaRPr lang="en-US" sz="1700" dirty="0"/>
          </a:p>
        </p:txBody>
      </p:sp>
      <p:sp>
        <p:nvSpPr>
          <p:cNvPr id="12" name="Results Right"/>
          <p:cNvSpPr txBox="1"/>
          <p:nvPr/>
        </p:nvSpPr>
        <p:spPr>
          <a:xfrm>
            <a:off x="6248400" y="2636030"/>
            <a:ext cx="5257800" cy="3000000"/>
          </a:xfrm>
          <a:prstGeom prst="rect">
            <a:avLst/>
          </a:prstGeom>
          <a:noFill/>
        </p:spPr>
        <p:txBody>
          <a:bodyPr wrap="square" anchor="t">
            <a:normAutofit/>
          </a:bodyPr>
          <a:lstStyle/>
          <a:p>
            <a:pPr marL="285750" indent="-285750">
              <a:spcAft>
                <a:spcPts val="350"/>
              </a:spcAft>
              <a:buFont typeface="Arial" panose="020B0604020202020204"/>
              <a:buChar char="•"/>
            </a:pP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 name="Left Col"/>
          <p:cNvSpPr txBox="1"/>
          <p:nvPr/>
        </p:nvSpPr>
        <p:spPr>
          <a:xfrm>
            <a:off x="685800" y="1000125"/>
            <a:ext cx="5257800" cy="5600000"/>
          </a:xfrm>
          <a:prstGeom prst="rect">
            <a:avLst/>
          </a:prstGeom>
          <a:noFill/>
        </p:spPr>
        <p:txBody>
          <a:bodyPr wrap="square" anchor="t">
            <a:normAutofit/>
          </a:bodyPr>
          <a:lstStyle/>
          <a:p>
            <a:pPr marL="0" indent="0" algn="l">
              <a:spcAft>
                <a:spcPts val="400"/>
              </a:spcAft>
              <a:buNone/>
            </a:pPr>
            <a:r>
              <a:rPr lang="en-US" sz="1800" b="1" dirty="0"/>
              <a:t>Hardware Requirements</a:t>
            </a:r>
          </a:p>
          <a:p>
            <a:pPr marL="0" indent="0" algn="l">
              <a:spcAft>
                <a:spcPts val="350"/>
              </a:spcAft>
              <a:buNone/>
            </a:pPr>
            <a:r>
              <a:rPr lang="en-US" altLang="en-US" sz="1800" b="1" dirty="0"/>
              <a:t>Hardware Requirements</a:t>
            </a:r>
          </a:p>
          <a:p>
            <a:pPr marL="0" indent="0" algn="l">
              <a:spcAft>
                <a:spcPts val="350"/>
              </a:spcAft>
              <a:buNone/>
            </a:pPr>
            <a:r>
              <a:rPr lang="en-US" altLang="en-US" sz="1800" b="1" dirty="0"/>
              <a:t>Processor: Intel Core i3 or equivalent</a:t>
            </a:r>
          </a:p>
          <a:p>
            <a:pPr marL="0" indent="0" algn="l">
              <a:spcAft>
                <a:spcPts val="350"/>
              </a:spcAft>
              <a:buNone/>
            </a:pPr>
            <a:r>
              <a:rPr lang="en-US" altLang="en-US" sz="1800" b="1" dirty="0"/>
              <a:t>RAM: 4 GB minimum</a:t>
            </a:r>
          </a:p>
          <a:p>
            <a:pPr marL="0" indent="0" algn="l">
              <a:spcAft>
                <a:spcPts val="350"/>
              </a:spcAft>
              <a:buNone/>
            </a:pPr>
            <a:r>
              <a:rPr lang="en-US" altLang="en-US" sz="1800" b="1" dirty="0"/>
              <a:t>Storage: 500 MB or more</a:t>
            </a:r>
          </a:p>
          <a:p>
            <a:pPr marL="0" indent="0" algn="l">
              <a:spcAft>
                <a:spcPts val="350"/>
              </a:spcAft>
              <a:buNone/>
            </a:pPr>
            <a:r>
              <a:rPr lang="en-US" altLang="en-US" sz="1800" b="1" dirty="0"/>
              <a:t>Keyboard</a:t>
            </a:r>
          </a:p>
          <a:p>
            <a:pPr marL="0" indent="0" algn="l">
              <a:spcAft>
                <a:spcPts val="350"/>
              </a:spcAft>
              <a:buNone/>
            </a:pPr>
            <a:r>
              <a:rPr lang="en-US" altLang="en-US" sz="1800" b="1" dirty="0"/>
              <a:t>Mouse</a:t>
            </a:r>
          </a:p>
          <a:p>
            <a:pPr marL="0" indent="0" algn="l">
              <a:spcAft>
                <a:spcPts val="350"/>
              </a:spcAft>
              <a:buNone/>
            </a:pPr>
            <a:r>
              <a:rPr lang="en-US" altLang="en-US" sz="1800" b="1" dirty="0"/>
              <a:t>Standard monitor</a:t>
            </a:r>
          </a:p>
        </p:txBody>
      </p:sp>
      <p:sp>
        <p:nvSpPr>
          <p:cNvPr id="11" name="Right Col"/>
          <p:cNvSpPr txBox="1"/>
          <p:nvPr/>
        </p:nvSpPr>
        <p:spPr>
          <a:xfrm>
            <a:off x="6248400" y="1000125"/>
            <a:ext cx="5257800" cy="5600000"/>
          </a:xfrm>
          <a:prstGeom prst="rect">
            <a:avLst/>
          </a:prstGeom>
          <a:noFill/>
        </p:spPr>
        <p:txBody>
          <a:bodyPr wrap="square" anchor="t">
            <a:normAutofit/>
          </a:bodyPr>
          <a:lstStyle/>
          <a:p>
            <a:pPr marL="0" indent="0" algn="l">
              <a:spcAft>
                <a:spcPts val="400"/>
              </a:spcAft>
              <a:buNone/>
            </a:pPr>
            <a:r>
              <a:rPr lang="en-US" sz="1800" b="1" dirty="0"/>
              <a:t>Software Requirements</a:t>
            </a:r>
          </a:p>
          <a:p>
            <a:pPr marL="285750" indent="-285750">
              <a:spcAft>
                <a:spcPts val="250"/>
              </a:spcAft>
              <a:buFont typeface="Arial" panose="020B0604020202020204"/>
              <a:buChar char="•"/>
            </a:pPr>
            <a:r>
              <a:rPr lang="en-US" altLang="en-US" sz="1800" b="1" dirty="0"/>
              <a:t>Operating System: Windows / Linux / macOS</a:t>
            </a:r>
          </a:p>
          <a:p>
            <a:pPr marL="285750" indent="-285750">
              <a:spcAft>
                <a:spcPts val="250"/>
              </a:spcAft>
              <a:buFont typeface="Arial" panose="020B0604020202020204"/>
              <a:buChar char="•"/>
            </a:pPr>
            <a:r>
              <a:rPr lang="en-US" altLang="en-US" sz="1800" b="1" dirty="0"/>
              <a:t>Programming Language: Java</a:t>
            </a:r>
          </a:p>
          <a:p>
            <a:pPr marL="285750" indent="-285750">
              <a:spcAft>
                <a:spcPts val="250"/>
              </a:spcAft>
              <a:buFont typeface="Arial" panose="020B0604020202020204"/>
              <a:buChar char="•"/>
            </a:pPr>
            <a:r>
              <a:rPr lang="en-US" altLang="en-US" sz="1800" b="1" dirty="0"/>
              <a:t>JDK: JDK 17 or later</a:t>
            </a:r>
          </a:p>
          <a:p>
            <a:pPr marL="285750" indent="-285750">
              <a:spcAft>
                <a:spcPts val="250"/>
              </a:spcAft>
              <a:buFont typeface="Arial" panose="020B0604020202020204"/>
              <a:buChar char="•"/>
            </a:pPr>
            <a:r>
              <a:rPr lang="en-US" altLang="en-US" sz="1800" b="1" dirty="0"/>
              <a:t>IDE: IntelliJ IDEA / Eclipse / VS Code</a:t>
            </a:r>
          </a:p>
          <a:p>
            <a:pPr marL="285750" indent="-285750">
              <a:spcAft>
                <a:spcPts val="250"/>
              </a:spcAft>
              <a:buFont typeface="Arial" panose="020B0604020202020204"/>
              <a:buChar char="•"/>
            </a:pPr>
            <a:r>
              <a:rPr lang="en-US" altLang="en-US" sz="1800" b="1" dirty="0"/>
              <a:t>Input: Free-text symptom descriptions</a:t>
            </a:r>
          </a:p>
          <a:p>
            <a:pPr marL="285750" indent="-285750">
              <a:spcAft>
                <a:spcPts val="250"/>
              </a:spcAft>
              <a:buFont typeface="Arial" panose="020B0604020202020204"/>
              <a:buChar char="•"/>
            </a:pPr>
            <a:r>
              <a:rPr lang="en-US" altLang="en-US" sz="1800" b="1" dirty="0"/>
              <a:t>Knowledge Base: Structured symptom-diagnosis data</a:t>
            </a:r>
          </a:p>
          <a:p>
            <a:pPr marL="285750" indent="-285750">
              <a:spcAft>
                <a:spcPts val="250"/>
              </a:spcAft>
              <a:buFont typeface="Arial" panose="020B0604020202020204"/>
              <a:buChar char="•"/>
            </a:pPr>
            <a:r>
              <a:rPr lang="en-US" altLang="en-US" sz="1800" b="1" dirty="0"/>
              <a:t>Output: Ranked diagnosis results and recommended tests</a:t>
            </a:r>
          </a:p>
          <a:p>
            <a:pPr marL="285750" indent="-285750">
              <a:spcAft>
                <a:spcPts val="250"/>
              </a:spcAft>
              <a:buFont typeface="Arial" panose="020B0604020202020204"/>
              <a:buChar char="•"/>
            </a:pPr>
            <a:r>
              <a:rPr lang="en-US" altLang="en-US" sz="1800" b="1" dirty="0"/>
              <a:t>Libraries: Java Standard Library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just">
              <a:spcAft>
                <a:spcPts val="500"/>
              </a:spcAft>
              <a:buNone/>
            </a:pPr>
            <a:r>
              <a:rPr lang="en-US" altLang="en-US" sz="1900" dirty="0"/>
              <a:t>The Symptom-to-Diagnosis Matcher provides a structured approach for processing symptoms and identifying possible medical conditions.</a:t>
            </a:r>
          </a:p>
          <a:p>
            <a:pPr marL="0" indent="0" algn="just">
              <a:spcAft>
                <a:spcPts val="500"/>
              </a:spcAft>
              <a:buNone/>
            </a:pPr>
            <a:endParaRPr lang="en-US" altLang="en-US" sz="1900" dirty="0"/>
          </a:p>
          <a:p>
            <a:pPr marL="0" indent="0" algn="just">
              <a:spcAft>
                <a:spcPts val="500"/>
              </a:spcAft>
              <a:buNone/>
            </a:pPr>
            <a:r>
              <a:rPr lang="en-US" altLang="en-US" sz="1900" dirty="0"/>
              <a:t>The system normalizes free-text symptoms, matches them with a structured knowledge base, calculates transparent scores, and ranks candidate diagnoses.</a:t>
            </a:r>
          </a:p>
          <a:p>
            <a:pPr marL="0" indent="0" algn="just">
              <a:spcAft>
                <a:spcPts val="500"/>
              </a:spcAft>
              <a:buNone/>
            </a:pPr>
            <a:endParaRPr lang="en-US" altLang="en-US" sz="1900" dirty="0"/>
          </a:p>
          <a:p>
            <a:pPr marL="0" indent="0" algn="just">
              <a:spcAft>
                <a:spcPts val="500"/>
              </a:spcAft>
              <a:buNone/>
            </a:pPr>
            <a:r>
              <a:rPr lang="en-US" altLang="en-US" sz="1900" dirty="0"/>
              <a:t>It also compares competing conditions and recommends discriminating tests to support further evaluation.</a:t>
            </a:r>
          </a:p>
          <a:p>
            <a:pPr marL="0" indent="0" algn="just">
              <a:spcAft>
                <a:spcPts val="500"/>
              </a:spcAft>
              <a:buNone/>
            </a:pPr>
            <a:endParaRPr lang="en-US" altLang="en-US" sz="1900" dirty="0"/>
          </a:p>
          <a:p>
            <a:pPr marL="0" indent="0" algn="just">
              <a:spcAft>
                <a:spcPts val="500"/>
              </a:spcAft>
              <a:buNone/>
            </a:pPr>
            <a:r>
              <a:rPr lang="en-US" altLang="en-US" sz="1900" dirty="0"/>
              <a:t>The project demonstrates how Data Structures and Algorithms can be applied to a real-world decision-support problem while keeping the reasoning understandable and traceable.</a:t>
            </a:r>
          </a:p>
          <a:p>
            <a:pPr marL="0" indent="0" algn="just">
              <a:spcAft>
                <a:spcPts val="500"/>
              </a:spcAft>
              <a:buNone/>
            </a:pPr>
            <a:endParaRPr lang="en-US" altLang="en-US" sz="1900" dirty="0"/>
          </a:p>
          <a:p>
            <a:pPr marL="0" indent="0" algn="just">
              <a:spcAft>
                <a:spcPts val="500"/>
              </a:spcAft>
              <a:buNone/>
            </a:pPr>
            <a:r>
              <a:rPr lang="en-US" altLang="en-US" sz="1900" dirty="0"/>
              <a:t>The system is designed as an educational and decision-support tool, not as a replacement for professional medical diagnosis.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l">
              <a:spcAft>
                <a:spcPts val="500"/>
              </a:spcAft>
              <a:buNone/>
            </a:pPr>
            <a:r>
              <a:rPr lang="en-US" altLang="en-US" sz="1900" dirty="0"/>
              <a:t>The project can be improved in several ways:</a:t>
            </a:r>
          </a:p>
          <a:p>
            <a:pPr marL="0" indent="0" algn="l">
              <a:spcAft>
                <a:spcPts val="500"/>
              </a:spcAft>
              <a:buNone/>
            </a:pPr>
            <a:endParaRPr lang="en-US" altLang="en-US" sz="1900" dirty="0"/>
          </a:p>
          <a:p>
            <a:pPr marL="0" indent="0" algn="l">
              <a:spcAft>
                <a:spcPts val="500"/>
              </a:spcAft>
              <a:buNone/>
            </a:pPr>
            <a:r>
              <a:rPr lang="en-US" altLang="en-US" sz="1900" dirty="0"/>
              <a:t>Expand the symptom-diagnosis knowledge base.</a:t>
            </a:r>
          </a:p>
          <a:p>
            <a:pPr marL="0" indent="0" algn="l">
              <a:spcAft>
                <a:spcPts val="500"/>
              </a:spcAft>
              <a:buNone/>
            </a:pPr>
            <a:r>
              <a:rPr lang="en-US" altLang="en-US" sz="1900" dirty="0"/>
              <a:t>Support more variations of symptom descriptions.</a:t>
            </a:r>
          </a:p>
          <a:p>
            <a:pPr marL="0" indent="0" algn="l">
              <a:spcAft>
                <a:spcPts val="500"/>
              </a:spcAft>
              <a:buNone/>
            </a:pPr>
            <a:r>
              <a:rPr lang="en-US" altLang="en-US" sz="1900" dirty="0"/>
              <a:t>Improve symptom normalization techniques.</a:t>
            </a:r>
          </a:p>
          <a:p>
            <a:pPr marL="0" indent="0" algn="l">
              <a:spcAft>
                <a:spcPts val="500"/>
              </a:spcAft>
              <a:buNone/>
            </a:pPr>
            <a:r>
              <a:rPr lang="en-US" altLang="en-US" sz="1900" dirty="0"/>
              <a:t>Add more advanced matching algorithms.</a:t>
            </a:r>
          </a:p>
          <a:p>
            <a:pPr marL="0" indent="0" algn="l">
              <a:spcAft>
                <a:spcPts val="500"/>
              </a:spcAft>
              <a:buNone/>
            </a:pPr>
            <a:r>
              <a:rPr lang="en-US" altLang="en-US" sz="1900" dirty="0"/>
              <a:t>Improve diagnosis ranking.</a:t>
            </a:r>
          </a:p>
          <a:p>
            <a:pPr marL="0" indent="0" algn="l">
              <a:spcAft>
                <a:spcPts val="500"/>
              </a:spcAft>
              <a:buNone/>
            </a:pPr>
            <a:r>
              <a:rPr lang="en-US" altLang="en-US" sz="1900" dirty="0"/>
              <a:t>Provide more detailed explanations for scores.</a:t>
            </a:r>
          </a:p>
          <a:p>
            <a:pPr marL="0" indent="0" algn="l">
              <a:spcAft>
                <a:spcPts val="500"/>
              </a:spcAft>
              <a:buNone/>
            </a:pPr>
            <a:r>
              <a:rPr lang="en-US" altLang="en-US" sz="1900" dirty="0"/>
              <a:t>Improve selection of discriminating tests.</a:t>
            </a:r>
          </a:p>
          <a:p>
            <a:pPr marL="0" indent="0" algn="l">
              <a:spcAft>
                <a:spcPts val="500"/>
              </a:spcAft>
              <a:buNone/>
            </a:pPr>
            <a:r>
              <a:rPr lang="en-US" altLang="en-US" sz="1900" dirty="0"/>
              <a:t>Develop a web-based user interface.</a:t>
            </a:r>
          </a:p>
          <a:p>
            <a:pPr marL="0" indent="0" algn="l">
              <a:spcAft>
                <a:spcPts val="500"/>
              </a:spcAft>
              <a:buNone/>
            </a:pPr>
            <a:r>
              <a:rPr lang="en-US" altLang="en-US" sz="1900" dirty="0"/>
              <a:t>Add support for multiple languages.</a:t>
            </a:r>
          </a:p>
          <a:p>
            <a:pPr marL="0" indent="0" algn="l">
              <a:spcAft>
                <a:spcPts val="500"/>
              </a:spcAft>
              <a:buNone/>
            </a:pPr>
            <a:r>
              <a:rPr lang="en-US" altLang="en-US" sz="1900" dirty="0"/>
              <a:t>Integrate additional medical knowledge sources.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867</Words>
  <Application>Microsoft Office PowerPoint</Application>
  <PresentationFormat>Widescreen</PresentationFormat>
  <Paragraphs>162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Symptom-to-Diagnosis Matcher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dell</cp:lastModifiedBy>
  <cp:revision>22</cp:revision>
  <dcterms:created xsi:type="dcterms:W3CDTF">2024-08-29T05:25:00Z</dcterms:created>
  <dcterms:modified xsi:type="dcterms:W3CDTF">2026-09-11T05:04:30Z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1033-12.1.0.28485</vt:lpwstr>
  </property>
</Properties>
</file>